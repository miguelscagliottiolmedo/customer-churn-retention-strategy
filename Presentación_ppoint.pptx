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</p:sldIdLst>
  <p:sldSz cy="5143500" cx="9144000"/>
  <p:notesSz cx="6858000" cy="9144000"/>
  <p:embeddedFontLst>
    <p:embeddedFont>
      <p:font typeface="Montserrat"/>
      <p:regular r:id="rId37"/>
      <p:bold r:id="rId38"/>
      <p:italic r:id="rId39"/>
      <p:boldItalic r:id="rId40"/>
    </p:embeddedFont>
    <p:embeddedFont>
      <p:font typeface="Lato"/>
      <p:regular r:id="rId41"/>
      <p:bold r:id="rId42"/>
      <p:italic r:id="rId43"/>
      <p:boldItalic r:id="rId44"/>
    </p:embeddedFont>
    <p:embeddedFont>
      <p:font typeface="Source Code Pro"/>
      <p:regular r:id="rId45"/>
      <p:bold r:id="rId46"/>
      <p:italic r:id="rId47"/>
      <p:boldItalic r:id="rId48"/>
    </p:embeddedFont>
    <p:embeddedFont>
      <p:font typeface="Roboto Mono"/>
      <p:regular r:id="rId49"/>
      <p:bold r:id="rId50"/>
      <p:italic r:id="rId51"/>
      <p:boldItalic r:id="rId52"/>
    </p:embeddedFont>
    <p:embeddedFont>
      <p:font typeface="Oswald"/>
      <p:regular r:id="rId53"/>
      <p:bold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42" Type="http://schemas.openxmlformats.org/officeDocument/2006/relationships/font" Target="fonts/Lato-bold.fntdata"/><Relationship Id="rId41" Type="http://schemas.openxmlformats.org/officeDocument/2006/relationships/font" Target="fonts/Lato-regular.fntdata"/><Relationship Id="rId44" Type="http://schemas.openxmlformats.org/officeDocument/2006/relationships/font" Target="fonts/Lato-boldItalic.fntdata"/><Relationship Id="rId43" Type="http://schemas.openxmlformats.org/officeDocument/2006/relationships/font" Target="fonts/Lato-italic.fntdata"/><Relationship Id="rId46" Type="http://schemas.openxmlformats.org/officeDocument/2006/relationships/font" Target="fonts/SourceCodePro-bold.fntdata"/><Relationship Id="rId45" Type="http://schemas.openxmlformats.org/officeDocument/2006/relationships/font" Target="fonts/SourceCodePr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SourceCodePro-boldItalic.fntdata"/><Relationship Id="rId47" Type="http://schemas.openxmlformats.org/officeDocument/2006/relationships/font" Target="fonts/SourceCodePro-italic.fntdata"/><Relationship Id="rId49" Type="http://schemas.openxmlformats.org/officeDocument/2006/relationships/font" Target="fonts/RobotoMon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font" Target="fonts/Montserrat-regular.fntdata"/><Relationship Id="rId36" Type="http://schemas.openxmlformats.org/officeDocument/2006/relationships/slide" Target="slides/slide31.xml"/><Relationship Id="rId39" Type="http://schemas.openxmlformats.org/officeDocument/2006/relationships/font" Target="fonts/Montserrat-italic.fntdata"/><Relationship Id="rId38" Type="http://schemas.openxmlformats.org/officeDocument/2006/relationships/font" Target="fonts/Montserrat-bold.fntdata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RobotoMono-italic.fntdata"/><Relationship Id="rId50" Type="http://schemas.openxmlformats.org/officeDocument/2006/relationships/font" Target="fonts/RobotoMono-bold.fntdata"/><Relationship Id="rId53" Type="http://schemas.openxmlformats.org/officeDocument/2006/relationships/font" Target="fonts/Oswald-regular.fntdata"/><Relationship Id="rId52" Type="http://schemas.openxmlformats.org/officeDocument/2006/relationships/font" Target="fonts/RobotoMon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54" Type="http://schemas.openxmlformats.org/officeDocument/2006/relationships/font" Target="fonts/Oswald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" name="Google Shape;1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6" name="Google Shape;2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" name="Google Shape;292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8" name="Google Shape;29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0" name="Google Shape;31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8e0ceb23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6" name="Google Shape;316;g38e0ceb23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8e0ceb231f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g38e0ceb231f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8e0ceb231f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g38e0ceb231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8e0ceb231f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8e0ceb231f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2745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2745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21" name="Google Shape;21;p3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3" name="Google Shape;23;p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4" name="Google Shape;24;p3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8" name="Google Shape;28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" name="Google Shape;46;p4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8"/>
            <a:chOff x="0" y="381001"/>
            <a:chExt cx="1037850" cy="1016288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411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137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058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b="0" i="0" sz="2800" u="none" cap="none" strike="noStrik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b="0" i="0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b="0" i="0" sz="11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9.png"/><Relationship Id="rId4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Relationship Id="rId4" Type="http://schemas.openxmlformats.org/officeDocument/2006/relationships/image" Target="../media/image24.png"/><Relationship Id="rId5" Type="http://schemas.openxmlformats.org/officeDocument/2006/relationships/image" Target="../media/image18.png"/><Relationship Id="rId6" Type="http://schemas.openxmlformats.org/officeDocument/2006/relationships/image" Target="../media/image2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Relationship Id="rId5" Type="http://schemas.openxmlformats.org/officeDocument/2006/relationships/image" Target="../media/image30.png"/><Relationship Id="rId6" Type="http://schemas.openxmlformats.org/officeDocument/2006/relationships/image" Target="../media/image2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Estrategias analiticas para el Churn</a:t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3608100" y="2954775"/>
            <a:ext cx="3470700" cy="50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/>
              <a:t>Grupo 1  </a:t>
            </a:r>
            <a:endParaRPr/>
          </a:p>
        </p:txBody>
      </p:sp>
      <p:pic>
        <p:nvPicPr>
          <p:cNvPr id="136" name="Google Shape;13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400" y="2378749"/>
            <a:ext cx="2403775" cy="8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Etapa 1: Análisis y visualización de datos</a:t>
            </a:r>
            <a:endParaRPr/>
          </a:p>
        </p:txBody>
      </p:sp>
      <p:sp>
        <p:nvSpPr>
          <p:cNvPr id="142" name="Google Shape;142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Introducción y objetivos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¿Cuántos clientes perdemos?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Conociendo a nuestros clientes ¿Que analizamos? común?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Análisis de los clientes que se van. ¿Que tienen en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¿Quienes son nuestros mejores clientes?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Action Items </a:t>
            </a:r>
            <a:endParaRPr/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es"/>
              <a:t>Conclusión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Nuestro Dataset</a:t>
            </a:r>
            <a:endParaRPr/>
          </a:p>
        </p:txBody>
      </p:sp>
      <p:sp>
        <p:nvSpPr>
          <p:cNvPr id="148" name="Google Shape;148;p15"/>
          <p:cNvSpPr txBox="1"/>
          <p:nvPr/>
        </p:nvSpPr>
        <p:spPr>
          <a:xfrm>
            <a:off x="1244050" y="1307850"/>
            <a:ext cx="7038900" cy="32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 dataset contiene información de más de 10.000 clientes bancarios e incluye variables demográficas, financieras y de comportamiento. Entre los datos disponibles se encuentran: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Edad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nivel educativo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estado civil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del cliente.</a:t>
            </a:r>
            <a:b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Ingresos anuales declarados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límite de crédito disponible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Cantidad de productos contratados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(tarjetas, cuentas, etc.).</a:t>
            </a:r>
            <a:b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Frecuencia de uso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medida por la cantidad y monto de transacciones realizadas.</a:t>
            </a:r>
            <a:b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Interacción con el banco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como cantidad de contactos en los últimos 12 meses.</a:t>
            </a:r>
            <a:b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Grado de inactividad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es decir, cuántos meses el cliente no realizó operaciones.</a:t>
            </a:r>
            <a:b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Indicador de abandono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(si el cliente sigue activo o dejó el banco).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Nuestro Dataset</a:t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2950" y="1211250"/>
            <a:ext cx="7867877" cy="3498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Objetivos del análisis</a:t>
            </a:r>
            <a:endParaRPr/>
          </a:p>
        </p:txBody>
      </p:sp>
      <p:sp>
        <p:nvSpPr>
          <p:cNvPr id="160" name="Google Shape;160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/>
              <a:t>• Cuantificar el abandono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/>
              <a:t> • Identificar variables predictoras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/>
              <a:t> • Segmentar clientes por riesgo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/>
              <a:t> • Perfilar clientes según su actividad e interaccion con el banco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"/>
              <a:t>• Diseñar acciones de retención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Conociendo a nuestros clientes… generalidades</a:t>
            </a:r>
            <a:endParaRPr/>
          </a:p>
        </p:txBody>
      </p:sp>
      <p:pic>
        <p:nvPicPr>
          <p:cNvPr id="166" name="Google Shape;16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925" y="2929763"/>
            <a:ext cx="2770026" cy="1724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33375" y="2929775"/>
            <a:ext cx="3409016" cy="1777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05375" y="1082749"/>
            <a:ext cx="2832285" cy="1724674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8"/>
          <p:cNvSpPr txBox="1"/>
          <p:nvPr/>
        </p:nvSpPr>
        <p:spPr>
          <a:xfrm>
            <a:off x="5385075" y="1186350"/>
            <a:ext cx="33666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b="0" i="0" lang="es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Edad concentrada entre 40-50 años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b="0" i="0" lang="es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El grupo más numeroso gana menos de 40k anuales, seguido por quienes ganan entre 40k y 60 k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111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</a:pPr>
            <a:r>
              <a:rPr b="0" i="0" lang="es" sz="1300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Los clientes hacen de 2 a 3 contactos mensuales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¿Que nos dicen las distintas distribuciones?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1433950" y="983725"/>
            <a:ext cx="68634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de la distribución de variables numéricas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1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Distribuciones Simétricas</a:t>
            </a: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Variables demográficas como Customer_Age y Months_on_book muestran una distribución cercana a la normal, centrada en la mediana edad y una antigüedad de 3 años, respectivamente.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1675" y="2086525"/>
            <a:ext cx="4276604" cy="27521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¿Que nos dicen las distintas distribuciones?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1433950" y="983725"/>
            <a:ext cx="6863400" cy="1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de la distribución de variables numéricas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1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Distribuciones Asimétricas</a:t>
            </a: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(Sesgo a la Derecha): Las variables de naturaleza financiera, como Credit_Limit y Avg_Utilization_Ratio, están fuertemente sesgadas. La mayoría de los clientes se concentra en valores bajos (límites de crédito modestos y bajo uso de la tarjeta), con una larga cola de clientes de alto valor. Notablemente, la variable Total_Revolving_Bal presenta un pico muy alto en cero, </a:t>
            </a:r>
            <a:r>
              <a:rPr b="1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indicando que una gran proporción de clientes no mantiene deudas de un mes para otro.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7700" y="2493725"/>
            <a:ext cx="3592856" cy="23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64006" y="2493725"/>
            <a:ext cx="3534476" cy="23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¿Que nos dicen las distintas distribuciones?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1433950" y="983725"/>
            <a:ext cx="6863400" cy="12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de la distribución de variables numéricas</a:t>
            </a:r>
            <a:endParaRPr b="1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1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Distribuciones Multimodales</a:t>
            </a: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Variables como Total_Trans_Amt y Total_Trans_Ct son bimodales, </a:t>
            </a:r>
            <a:r>
              <a:rPr b="1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sugiriendo la existencia de al menos dos segmentos de clientes distintos: un grupo de "uso moderado" y otro de "uso intensivo"</a:t>
            </a: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 Otras variables discretas como Dependent_Count y Total_Relationship_Count muestran picos en valores enteros específicos.</a:t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85175" y="2272525"/>
            <a:ext cx="4098752" cy="256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¿Que nos dicen las distintas distribuciones?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1433950" y="983725"/>
            <a:ext cx="6863400" cy="1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Hallazgos clave de valores atípicos 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1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Presencia Masiva en Variables Financieras</a:t>
            </a: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Se identificó una gran cantidad de valores atípicos en el extremo superior de las variables Credit_Limit, Avg_Open_To_Buy, y Total_Trans_Amt. Estos outliers no representan errores en los datos, sino un </a:t>
            </a:r>
            <a:r>
              <a:rPr b="1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segmento de clientes de alto valor (VIP) cuyo comportamiento financiero (límites, gastos) es significativamente superior al del cliente promedio.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2175" y="2784111"/>
            <a:ext cx="2807050" cy="18907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68475" y="2774375"/>
            <a:ext cx="2807051" cy="1910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1875" y="2774375"/>
            <a:ext cx="2883549" cy="1910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¿Que nos dicen las distintas distribuciones?</a:t>
            </a:r>
            <a:endParaRPr/>
          </a:p>
        </p:txBody>
      </p:sp>
      <p:sp>
        <p:nvSpPr>
          <p:cNvPr id="206" name="Google Shape;206;p23"/>
          <p:cNvSpPr txBox="1"/>
          <p:nvPr/>
        </p:nvSpPr>
        <p:spPr>
          <a:xfrm>
            <a:off x="1433950" y="983725"/>
            <a:ext cx="6863400" cy="1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Hallazgos clave de valores atípicos </a:t>
            </a:r>
            <a:endParaRPr b="1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1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Atípicos como Señales de Alerta</a:t>
            </a: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En las variables que miden el cambio en el comportamiento (Total_Amt_Chng_Q4_Q1 y Total_Ct_Chng_Q4_Q1), se observaron valores atípicos en ambos extremos. Los outliers en el extremo inferior (cercanos a cero) son particularmente relevantes para el negocio, ya que</a:t>
            </a:r>
            <a:r>
              <a:rPr b="1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identifican a los clientes que han reducido drásticamente su actividad, una señal de alerta temprana de un posible abandono.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7" name="Google Shape;20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3125" y="2517100"/>
            <a:ext cx="3503970" cy="2380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1100" y="2517100"/>
            <a:ext cx="3498744" cy="238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¿Que nos dicen las distintas distribuciones?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1433950" y="983725"/>
            <a:ext cx="6863400" cy="11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Hallazgos clave de valores atípicos </a:t>
            </a:r>
            <a:endParaRPr b="1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1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Ausencia de Atípicos Relevantes</a:t>
            </a: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: Variables como Total_Revolving_Bal no presentan valores atípicos significativos, indicando que </a:t>
            </a:r>
            <a:r>
              <a:rPr b="1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 comportamiento de endeudamiento es más homogéneo en toda la cartera de clientes.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" name="Google Shape;215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2550" y="2086525"/>
            <a:ext cx="7974924" cy="249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¿Que nos dicen las distintas distribuciones?</a:t>
            </a:r>
            <a:endParaRPr/>
          </a:p>
        </p:txBody>
      </p:sp>
      <p:sp>
        <p:nvSpPr>
          <p:cNvPr id="221" name="Google Shape;221;p25"/>
          <p:cNvSpPr txBox="1"/>
          <p:nvPr/>
        </p:nvSpPr>
        <p:spPr>
          <a:xfrm>
            <a:off x="1433950" y="983725"/>
            <a:ext cx="6863400" cy="1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de la Distribución de Variables Categóricas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Tasa de Abandono (Attrition_Flag): El dataset presenta un desbalance de clases significativo, con una tasa de abandono (churn) de aproximadamente el 16%.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Perfil Demográfico: La base de clientes es diversa, con una ligera mayoría femenina y una concentración en los estados civiles de "Casado" y "Soltero". A nivel educativo, los clientes "Graduados" y de "Secundaria" son los más comunes.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2" name="Google Shape;22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000" y="2860100"/>
            <a:ext cx="2871551" cy="151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7255" y="2860100"/>
            <a:ext cx="5837519" cy="151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¿Que nos dicen las distintas distribuciones?</a:t>
            </a:r>
            <a:endParaRPr/>
          </a:p>
        </p:txBody>
      </p:sp>
      <p:sp>
        <p:nvSpPr>
          <p:cNvPr id="229" name="Google Shape;229;p26"/>
          <p:cNvSpPr txBox="1"/>
          <p:nvPr/>
        </p:nvSpPr>
        <p:spPr>
          <a:xfrm>
            <a:off x="1433950" y="983725"/>
            <a:ext cx="6863400" cy="14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Análisis de la Distribución de Variables Categóricas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Perfil de Producto (Card_Category): Se observa una dependencia casi total del producto de entrada, la tarjeta "Blue", que constituye más del 90% de las tarjetas emitidas. Las tarjetas premium (Silver, Gold, Platinum) son productos de nicho con una penetración muy baja.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Calidad de Datos: En variables como Education_Level y Marital_Status existe una categoría "Unknown", indicando oportunidades para mejorar la recolección de datos demográficos.</a:t>
            </a:r>
            <a:endParaRPr b="1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0" name="Google Shape;230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2775" y="2867800"/>
            <a:ext cx="3385701" cy="1842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17820" y="2867800"/>
            <a:ext cx="3519708" cy="184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Entonces… ¿quienes son los que nos dejan? y ¿Quienes son nuestros clientes mas fieles?</a:t>
            </a:r>
            <a:endParaRPr/>
          </a:p>
        </p:txBody>
      </p:sp>
      <p:sp>
        <p:nvSpPr>
          <p:cNvPr id="237" name="Google Shape;237;p27"/>
          <p:cNvSpPr txBox="1"/>
          <p:nvPr/>
        </p:nvSpPr>
        <p:spPr>
          <a:xfrm>
            <a:off x="1480700" y="1254700"/>
            <a:ext cx="71463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🟢 Clientes fieles (activos):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Realizan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 de 75 transacciones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anuales.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Tienen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límites de crédito más altos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con una media superior a los $30.000.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Mantienen un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promedio de utilización de tarjeta más elevado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Tienen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ingresos superiores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 $60.000 anuales.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Contratan más productos del banco.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 jóvenes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(mayoría entre 40 y 45 años).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Menor cantidad de meses inactivos.</a:t>
            </a:r>
            <a:b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🔴 Clientes que abandonan (inactivos):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Realizan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menos de 45 transacciones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al año.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Tienen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límites de crédito muy bajos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(media cercana a $4.500).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Utilizan poco o nada sus tarjetas de crédito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Ganan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menos de $40.000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anuales.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 promedio, son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mayores de 45 años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Suelen tener mayor antigüedad, pero con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interacción decreciente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Hallazgos clave del churn bancario</a:t>
            </a:r>
            <a:endParaRPr/>
          </a:p>
        </p:txBody>
      </p:sp>
      <p:sp>
        <p:nvSpPr>
          <p:cNvPr id="243" name="Google Shape;243;p28"/>
          <p:cNvSpPr txBox="1"/>
          <p:nvPr/>
        </p:nvSpPr>
        <p:spPr>
          <a:xfrm>
            <a:off x="1297500" y="989725"/>
            <a:ext cx="7407600" cy="38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Tasa de Abandono (Churn):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16%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los clientes han abandonado o están en riesgo de abandono.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Comportamiento de Clientes en Riesgo: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clientes que abandonan muestran un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más de probabilidad de ser inactivos en los últimos 6 meses.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Estos clientes tienen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1.5 veces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menos transacciones promedio por mes que los clientes activos.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Su saldo de tarjeta de crédito es en promedio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30%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más bajo.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Características Demográficas y de Producto: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55%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los clientes que abandonan son mujeres.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80%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de los clientes que abandonan poseen una tarjeta de crédito "Blue".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Identificación de Valores Atípicos: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 identificaron valores atípicos significativos en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 financieras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(ej., límite de crédito, saldo disponible), representando a clientes de alto valor.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También se observaron valores atípicos en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variables de cambio de comportamiento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(ej., disminución en transacciones), indicando posibles señales de abandono.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Entonces… ¿quienes son los que nos dejan? y ¿Quienes son nuestros clientes mas fieles?</a:t>
            </a:r>
            <a:endParaRPr/>
          </a:p>
        </p:txBody>
      </p:sp>
      <p:sp>
        <p:nvSpPr>
          <p:cNvPr id="249" name="Google Shape;249;p29"/>
          <p:cNvSpPr txBox="1"/>
          <p:nvPr/>
        </p:nvSpPr>
        <p:spPr>
          <a:xfrm>
            <a:off x="1480700" y="1254700"/>
            <a:ext cx="71463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Resumiendo, los que se van: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Son los que menos transacciones hacen 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que menos productos tienen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que hacen movimientos con montos menores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más inactivos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50" name="Google Shape;25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34300" y="3328225"/>
            <a:ext cx="2445049" cy="16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23602" y="3328225"/>
            <a:ext cx="2394601" cy="16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5676" y="3328225"/>
            <a:ext cx="2483633" cy="1600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15675" y="1628025"/>
            <a:ext cx="2483626" cy="1548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¿Cuántos clientes perdemos exactamente?</a:t>
            </a:r>
            <a:endParaRPr/>
          </a:p>
        </p:txBody>
      </p:sp>
      <p:sp>
        <p:nvSpPr>
          <p:cNvPr id="259" name="Google Shape;259;p30"/>
          <p:cNvSpPr txBox="1"/>
          <p:nvPr/>
        </p:nvSpPr>
        <p:spPr>
          <a:xfrm>
            <a:off x="1297500" y="989725"/>
            <a:ext cx="3608400" cy="4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Según el análisis realizado: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16% de los clientes abandonaron el banco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, es decir, están marcados como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inactivos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Esto equivale aproximadamente a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 de cada 6 clientes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84% restante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continúa siendo cliente activo.</a:t>
            </a:r>
            <a:b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Este porcentaje de churn es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significativo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y representa una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pérdida potencial importante en términos de manejo de activos, ingresos y relaciones a largo plazo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0" name="Google Shape;26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88175" y="1826525"/>
            <a:ext cx="3933301" cy="21025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¿Que podemos decir de estos clientes que perdemos?</a:t>
            </a:r>
            <a:endParaRPr/>
          </a:p>
        </p:txBody>
      </p:sp>
      <p:sp>
        <p:nvSpPr>
          <p:cNvPr id="266" name="Google Shape;266;p31"/>
          <p:cNvSpPr txBox="1"/>
          <p:nvPr/>
        </p:nvSpPr>
        <p:spPr>
          <a:xfrm>
            <a:off x="1315800" y="1246900"/>
            <a:ext cx="7002300" cy="14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857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●"/>
            </a:pPr>
            <a:r>
              <a:rPr b="0" i="0" lang="e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Tienen más de 45 años: Nuestros clientes inactivos tienden a ubicarse en rangos de edad superiores a los 45 años. Esto sugiere que los usuarios de mayor edad podrían reducir su interacción con el producto.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●"/>
            </a:pPr>
            <a:r>
              <a:rPr b="0" i="0" lang="e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Tienen más antigüedad:  El grupo inactivo muestra, en promedio, un mayor tiempo de relación con el banco. Es decir, son clientes de larga data que, luego de 3 años, ya no realizan tantas operaciones.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●"/>
            </a:pPr>
            <a:r>
              <a:rPr b="0" i="0" lang="e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Tienen un límite de crédito más bajo: Su línea de crédito aprobada suele ser inferior a la media, lo cual puede limitar su capacidad de financiamiento y, a su vez, desincentivar el uso habitual de sus tarjetas o productos asociados.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●"/>
            </a:pPr>
            <a:r>
              <a:rPr b="0" i="0" lang="e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Tienen un menor nivel de ingresos: Los inactivos se concentran en categorías de ingreso más bajas con menos de $40K anuales, lo que refuerza la hipótesis de que la capacidad financiera impacta directamente en la actividad transaccional.</a:t>
            </a:r>
            <a:endParaRPr b="0" i="0" sz="1100" u="none" cap="none" strike="noStrike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pic>
        <p:nvPicPr>
          <p:cNvPr id="267" name="Google Shape;26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0925" y="2975150"/>
            <a:ext cx="2014101" cy="13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9700" y="2981275"/>
            <a:ext cx="2035618" cy="130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69998" y="2971730"/>
            <a:ext cx="2014099" cy="131449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78775" y="2965600"/>
            <a:ext cx="2134305" cy="13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¿Que podemos decir de estos clientes que perdemos? Concluimos entonces con que:</a:t>
            </a:r>
            <a:endParaRPr/>
          </a:p>
        </p:txBody>
      </p:sp>
      <p:sp>
        <p:nvSpPr>
          <p:cNvPr id="276" name="Google Shape;276;p32"/>
          <p:cNvSpPr txBox="1"/>
          <p:nvPr/>
        </p:nvSpPr>
        <p:spPr>
          <a:xfrm>
            <a:off x="1315800" y="1246900"/>
            <a:ext cx="70023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110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Los clientes con baja actividad tienden a ser mayores, tienen menores límites de crédito, mueven menos dinero y realizan menos transacciones en comparación con los de alta actividad. Sin embargo, poseen similar cantidad de productos activos y contactos con el banco, y suelen tener más antigüedad. Estos perfiles sugieren que la baja actividad puede estar asociada a desinterés progresivo, envejecimiento de la cartera y menor engagement, lo que convierte a estos clientes en foco prioritario para estrategias de retención y reactivación por parte del banco</a:t>
            </a:r>
            <a:endParaRPr b="0" i="0" sz="9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7" name="Google Shape;27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6321" y="2436000"/>
            <a:ext cx="4140462" cy="230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¿Que podemos decir de estos clientes que perdemos? Concluimos entonces con que:</a:t>
            </a:r>
            <a:endParaRPr/>
          </a:p>
        </p:txBody>
      </p:sp>
      <p:sp>
        <p:nvSpPr>
          <p:cNvPr id="283" name="Google Shape;283;p33"/>
          <p:cNvSpPr txBox="1"/>
          <p:nvPr/>
        </p:nvSpPr>
        <p:spPr>
          <a:xfrm>
            <a:off x="1315800" y="1246900"/>
            <a:ext cx="7002300" cy="21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El análisis comparativo muestra que los clientes de baja actividad (≥3 meses inactivos) tienden a: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Ser, en promedio, más mayores que los clientes activos.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Tener límites de crédito más bajos, realizar menos transacciones y mover menores montos.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Hacer menor uso de su crédito disponible.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Poseer una cantidad similar de productos activos, aunque el compromiso es menor.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Presentar ligeramente mayor antigüedad en el banco, lo que puede reflejar clientes antiguos que han perdido interés.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52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50"/>
              <a:buFont typeface="Arial"/>
              <a:buChar char="●"/>
            </a:pPr>
            <a:r>
              <a:rPr b="0" i="0" lang="es" sz="105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Tener una media levemente mayor de contactos con el banco, posiblemente por gestiones o reclamos.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100"/>
              </a:spcBef>
              <a:spcAft>
                <a:spcPts val="110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Recomendaciones finales</a:t>
            </a:r>
            <a:endParaRPr/>
          </a:p>
        </p:txBody>
      </p:sp>
      <p:sp>
        <p:nvSpPr>
          <p:cNvPr id="289" name="Google Shape;289;p34"/>
          <p:cNvSpPr txBox="1"/>
          <p:nvPr/>
        </p:nvSpPr>
        <p:spPr>
          <a:xfrm>
            <a:off x="1315800" y="1246900"/>
            <a:ext cx="7002300" cy="3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Basado en el análisis de datos de clientes, se recomienda: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Monitoreo Proactivo de Inactividad: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Alertar sobre clientes con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&gt;6 meses de inactividad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; son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20%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más propensos a abandonar.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Diseñar campañas de re-engagement para este segmento.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Atención a Baja Actividad Transaccional: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Identificar clientes con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1.5x menos transacciones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promedio.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Incentivar mayor uso de servicios.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Estrategias por Tipo de Cliente y Producto: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Enfocarse en el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55% de mujeres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que abandonan y el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80% de usuarios de tarjeta "Blue"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que hacen churn.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Desarrollar ofertas de valor específicas para estos grupos.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Gestión de Clientes de Alto Valor y Señales de Riesgo:</a:t>
            </a:r>
            <a:endParaRPr b="1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Asegurar la satisfacción de clientes con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altos límites/saldos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(valores atípicos financieros).</a:t>
            </a:r>
            <a:endParaRPr b="0" i="0" sz="11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Usar </a:t>
            </a:r>
            <a:r>
              <a:rPr b="1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cambios de comportamiento atípicos</a:t>
            </a:r>
            <a:r>
              <a:rPr b="0" i="0" lang="es" sz="11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como alertas tempranas para intervención.</a:t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110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3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Etapa 2: Curación y Preparación del Dataset para Modelos de Churn</a:t>
            </a:r>
            <a:endParaRPr/>
          </a:p>
        </p:txBody>
      </p:sp>
      <p:sp>
        <p:nvSpPr>
          <p:cNvPr id="295" name="Google Shape;295;p35"/>
          <p:cNvSpPr txBox="1"/>
          <p:nvPr>
            <p:ph idx="1" type="body"/>
          </p:nvPr>
        </p:nvSpPr>
        <p:spPr>
          <a:xfrm>
            <a:off x="1297500" y="137270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Objetivo Clave: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Transformar datos brutos en un dataset robusto y numérico,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listo para el modelado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de detección de churn.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Limpieza y Calidad de Datos: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Valores Faltantes: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Tratamiento de la categoría 'Unknown' como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informativa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no como nulo.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i="1" lang="es">
                <a:latin typeface="Arial"/>
                <a:ea typeface="Arial"/>
                <a:cs typeface="Arial"/>
                <a:sym typeface="Arial"/>
              </a:rPr>
              <a:t>Decisión: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 Conservada para no perder valor predictivo.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Valores Atípicos (Outliers):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Identificados en variables financieras (e.g.,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Credit_Limit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Total_Trans_Amt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i="1" lang="es">
                <a:latin typeface="Arial"/>
                <a:ea typeface="Arial"/>
                <a:cs typeface="Arial"/>
                <a:sym typeface="Arial"/>
              </a:rPr>
              <a:t>Decisión: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s">
                <a:latin typeface="Arial"/>
                <a:ea typeface="Arial"/>
                <a:cs typeface="Arial"/>
                <a:sym typeface="Arial"/>
              </a:rPr>
              <a:t>Conservados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, ya que representan clientes de alto valor/transaccionalidad y son valiosos para el modelo.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Duplicados/Inconsistencias: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Verificación y tratamiento (ej.,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Gender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duplicado corregido).</a:t>
            </a:r>
            <a:endParaRPr sz="13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Del análisis al modelado: Preparando nuestros datos para la predicción del Churn</a:t>
            </a:r>
            <a:endParaRPr/>
          </a:p>
        </p:txBody>
      </p:sp>
      <p:sp>
        <p:nvSpPr>
          <p:cNvPr id="301" name="Google Shape;301;p36"/>
          <p:cNvSpPr txBox="1"/>
          <p:nvPr>
            <p:ph idx="1" type="body"/>
          </p:nvPr>
        </p:nvSpPr>
        <p:spPr>
          <a:xfrm>
            <a:off x="1297500" y="137270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/>
              <a:t>Del Análisis al Modelado: Preparando Nuestros Datos para la Predicción de Churn</a:t>
            </a:r>
            <a:endParaRPr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Recapitulación: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En la etapa anterior, realizamos un </a:t>
            </a:r>
            <a:r>
              <a:rPr b="1" lang="es">
                <a:latin typeface="Arial"/>
                <a:ea typeface="Arial"/>
                <a:cs typeface="Arial"/>
                <a:sym typeface="Arial"/>
              </a:rPr>
              <a:t>análisis exploratorio profundo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 de nuestros datos de clientes.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Identificamos patrones clave, distribuciones de variables y la </a:t>
            </a:r>
            <a:r>
              <a:rPr b="1" lang="es">
                <a:latin typeface="Arial"/>
                <a:ea typeface="Arial"/>
                <a:cs typeface="Arial"/>
                <a:sym typeface="Arial"/>
              </a:rPr>
              <a:t>magnitud de nuestro problema de churn (16%)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Comprendimos las características de los clientes en riesgo, desde su inactividad hasta el uso de productos.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El Siguiente Paso Crítico: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Ahora, para poder </a:t>
            </a:r>
            <a:r>
              <a:rPr b="1" lang="es">
                <a:latin typeface="Arial"/>
                <a:ea typeface="Arial"/>
                <a:cs typeface="Arial"/>
                <a:sym typeface="Arial"/>
              </a:rPr>
              <a:t>construir modelos predictivos robustos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 que identifiquen y prevengan el abandono, es fundamental que nuestros datos estén en las mejores condiciones.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Esta segunda etapa se enfoca en la </a:t>
            </a:r>
            <a:r>
              <a:rPr b="1" lang="es">
                <a:latin typeface="Arial"/>
                <a:ea typeface="Arial"/>
                <a:cs typeface="Arial"/>
                <a:sym typeface="Arial"/>
              </a:rPr>
              <a:t>curación, limpieza y enriquecimiento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 del dataset.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s">
                <a:latin typeface="Arial"/>
                <a:ea typeface="Arial"/>
                <a:cs typeface="Arial"/>
                <a:sym typeface="Arial"/>
              </a:rPr>
              <a:t>Nuestro objetivo es transformar los datos brutos en un formato </a:t>
            </a:r>
            <a:r>
              <a:rPr b="1" lang="es">
                <a:latin typeface="Arial"/>
                <a:ea typeface="Arial"/>
                <a:cs typeface="Arial"/>
                <a:sym typeface="Arial"/>
              </a:rPr>
              <a:t>óptimo y listo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 para los algoritmos de Machine Learning, maximizando su poder predictivo.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7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"/>
              <a:t>Creación de Variables Clave para Mejorar la Predicción</a:t>
            </a:r>
            <a:endParaRPr/>
          </a:p>
        </p:txBody>
      </p:sp>
      <p:sp>
        <p:nvSpPr>
          <p:cNvPr id="307" name="Google Shape;307;p37"/>
          <p:cNvSpPr txBox="1"/>
          <p:nvPr>
            <p:ph idx="1" type="body"/>
          </p:nvPr>
        </p:nvSpPr>
        <p:spPr>
          <a:xfrm>
            <a:off x="1297500" y="137270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Generación de Nuevas Variables (6+):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Se crearon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nuevas features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a partir de datos existentes para capturar patrones de churn. Ejemplos incluyen: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Avg_Utilization_Ratio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: Uso de crédito vs. límite.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Transactions_per_Month_on_Book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: Frecuencia transaccional normalizada.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Customer_Interaction_Score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: Medida de "engagement" (productos + contactos).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Is_Dormant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: Indicador binario de alta inactividad y bajo volumen.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lang="es">
                <a:latin typeface="Roboto Mono"/>
                <a:ea typeface="Roboto Mono"/>
                <a:cs typeface="Roboto Mono"/>
                <a:sym typeface="Roboto Mono"/>
              </a:rPr>
              <a:t>Tenure_Segment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: Categorización de la antigüedad del cliente.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Impacto: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Estas variables enriquecen el dataset, proporcionando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mayor información y poder predictivo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para el modelo de clasificación.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8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/>
              <a:t>Preparación Final y Dataset Optimizado</a:t>
            </a:r>
            <a:endParaRPr/>
          </a:p>
        </p:txBody>
      </p:sp>
      <p:sp>
        <p:nvSpPr>
          <p:cNvPr id="313" name="Google Shape;313;p38"/>
          <p:cNvSpPr txBox="1"/>
          <p:nvPr>
            <p:ph idx="1" type="body"/>
          </p:nvPr>
        </p:nvSpPr>
        <p:spPr>
          <a:xfrm>
            <a:off x="1297500" y="1372700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Preparación Final del Dataset: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Variable Objetivo: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Attrition_Flag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convertida a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binario (1 = Churn, 0 = Activo)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Transformación de Categóricas: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Aplicación de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One-Hot Encoding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pd.get_dummies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con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drop_first=True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) a todas las variables categóricas (originales y nuevas).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○"/>
            </a:pPr>
            <a:r>
              <a:rPr i="1" lang="es">
                <a:latin typeface="Arial"/>
                <a:ea typeface="Arial"/>
                <a:cs typeface="Arial"/>
                <a:sym typeface="Arial"/>
              </a:rPr>
              <a:t>Propósito:</a:t>
            </a:r>
            <a:r>
              <a:rPr lang="es">
                <a:latin typeface="Arial"/>
                <a:ea typeface="Arial"/>
                <a:cs typeface="Arial"/>
                <a:sym typeface="Arial"/>
              </a:rPr>
              <a:t> Optimización para modelos de Machine Learning (evitar multicolinealidad).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Limpieza Final: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Eliminación de columnas no predictivas (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CLIENTNUM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).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Verificación: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Aseguramiento de la ausencia de nulos o infinitos.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b="1" lang="es" sz="1100">
                <a:latin typeface="Arial"/>
                <a:ea typeface="Arial"/>
                <a:cs typeface="Arial"/>
                <a:sym typeface="Arial"/>
              </a:rPr>
              <a:t>Resultado Final: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Dataset </a:t>
            </a:r>
            <a:r>
              <a:rPr lang="es" sz="1100">
                <a:latin typeface="Roboto Mono"/>
                <a:ea typeface="Roboto Mono"/>
                <a:cs typeface="Roboto Mono"/>
                <a:sym typeface="Roboto Mono"/>
              </a:rPr>
              <a:t>Churn_CreditCard_Curated.csv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: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10,127 filas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y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41 columnas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Char char="●"/>
            </a:pPr>
            <a:r>
              <a:rPr lang="es" sz="1100">
                <a:latin typeface="Arial"/>
                <a:ea typeface="Arial"/>
                <a:cs typeface="Arial"/>
                <a:sym typeface="Arial"/>
              </a:rPr>
              <a:t>Completamente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limpio, normalizado y enriquecido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, listo como </a:t>
            </a:r>
            <a:r>
              <a:rPr b="1" lang="es" sz="1100">
                <a:latin typeface="Arial"/>
                <a:ea typeface="Arial"/>
                <a:cs typeface="Arial"/>
                <a:sym typeface="Arial"/>
              </a:rPr>
              <a:t>base de datos optimizada</a:t>
            </a:r>
            <a:r>
              <a:rPr lang="es" sz="1100">
                <a:latin typeface="Arial"/>
                <a:ea typeface="Arial"/>
                <a:cs typeface="Arial"/>
                <a:sym typeface="Arial"/>
              </a:rPr>
              <a:t> para el entrenamiento de modelos de aprendizaje supervisado y profundo.</a:t>
            </a:r>
            <a:endParaRPr b="1"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9"/>
          <p:cNvSpPr txBox="1"/>
          <p:nvPr>
            <p:ph type="title"/>
          </p:nvPr>
        </p:nvSpPr>
        <p:spPr>
          <a:xfrm>
            <a:off x="1052550" y="170300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5400">
                <a:latin typeface="Oswald"/>
                <a:ea typeface="Oswald"/>
                <a:cs typeface="Oswald"/>
                <a:sym typeface="Oswald"/>
              </a:rPr>
              <a:t>MODELOS DE CLASIFICACIÓN</a:t>
            </a:r>
            <a:endParaRPr sz="54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19" name="Google Shape;319;p39"/>
          <p:cNvSpPr txBox="1"/>
          <p:nvPr/>
        </p:nvSpPr>
        <p:spPr>
          <a:xfrm>
            <a:off x="805350" y="2379525"/>
            <a:ext cx="7533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PREDICCIÓN DEL ABANDONO DE CLIENTES BANCARIOS (CHURN)</a:t>
            </a:r>
            <a:endParaRPr i="1"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40"/>
          <p:cNvSpPr txBox="1"/>
          <p:nvPr>
            <p:ph type="title"/>
          </p:nvPr>
        </p:nvSpPr>
        <p:spPr>
          <a:xfrm>
            <a:off x="14743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5400">
                <a:latin typeface="Oswald"/>
                <a:ea typeface="Oswald"/>
                <a:cs typeface="Oswald"/>
                <a:sym typeface="Oswald"/>
              </a:rPr>
              <a:t>PIPELINE DEL PROCESO:</a:t>
            </a:r>
            <a:endParaRPr sz="54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25" name="Google Shape;325;p40"/>
          <p:cNvSpPr txBox="1"/>
          <p:nvPr/>
        </p:nvSpPr>
        <p:spPr>
          <a:xfrm>
            <a:off x="520525" y="1465125"/>
            <a:ext cx="7533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En esta parte del proyecto nos enfocamos en construir y comparar distintos modelos de clasificación</a:t>
            </a:r>
            <a:endParaRPr i="1" sz="1800">
              <a:solidFill>
                <a:schemeClr val="dk2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26" name="Google Shape;326;p40"/>
          <p:cNvSpPr/>
          <p:nvPr/>
        </p:nvSpPr>
        <p:spPr>
          <a:xfrm>
            <a:off x="421176" y="2235693"/>
            <a:ext cx="1329900" cy="13299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40"/>
          <p:cNvSpPr txBox="1"/>
          <p:nvPr/>
        </p:nvSpPr>
        <p:spPr>
          <a:xfrm>
            <a:off x="421225" y="2596750"/>
            <a:ext cx="1329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DATASET</a:t>
            </a:r>
            <a:endParaRPr sz="1500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28" name="Google Shape;328;p40"/>
          <p:cNvSpPr txBox="1"/>
          <p:nvPr/>
        </p:nvSpPr>
        <p:spPr>
          <a:xfrm>
            <a:off x="2060675" y="2625900"/>
            <a:ext cx="29547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29" name="Google Shape;329;p40"/>
          <p:cNvSpPr txBox="1"/>
          <p:nvPr/>
        </p:nvSpPr>
        <p:spPr>
          <a:xfrm>
            <a:off x="5709825" y="2596750"/>
            <a:ext cx="1506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30" name="Google Shape;330;p40"/>
          <p:cNvSpPr txBox="1"/>
          <p:nvPr/>
        </p:nvSpPr>
        <p:spPr>
          <a:xfrm>
            <a:off x="7718425" y="2596750"/>
            <a:ext cx="1012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HTML, CSS,JS</a:t>
            </a:r>
            <a:endParaRPr sz="1500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31" name="Google Shape;331;p40"/>
          <p:cNvSpPr txBox="1"/>
          <p:nvPr/>
        </p:nvSpPr>
        <p:spPr>
          <a:xfrm>
            <a:off x="1883213" y="2478950"/>
            <a:ext cx="5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→</a:t>
            </a:r>
            <a:endParaRPr sz="2800"/>
          </a:p>
        </p:txBody>
      </p:sp>
      <p:sp>
        <p:nvSpPr>
          <p:cNvPr id="332" name="Google Shape;332;p40"/>
          <p:cNvSpPr txBox="1"/>
          <p:nvPr/>
        </p:nvSpPr>
        <p:spPr>
          <a:xfrm>
            <a:off x="6800063" y="2571750"/>
            <a:ext cx="5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→</a:t>
            </a:r>
            <a:endParaRPr sz="2800"/>
          </a:p>
        </p:txBody>
      </p:sp>
      <p:sp>
        <p:nvSpPr>
          <p:cNvPr id="333" name="Google Shape;333;p40"/>
          <p:cNvSpPr txBox="1"/>
          <p:nvPr/>
        </p:nvSpPr>
        <p:spPr>
          <a:xfrm>
            <a:off x="4268638" y="2571750"/>
            <a:ext cx="546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00"/>
              <a:t>→</a:t>
            </a:r>
            <a:endParaRPr sz="2800"/>
          </a:p>
        </p:txBody>
      </p:sp>
      <p:sp>
        <p:nvSpPr>
          <p:cNvPr id="334" name="Google Shape;334;p40"/>
          <p:cNvSpPr/>
          <p:nvPr/>
        </p:nvSpPr>
        <p:spPr>
          <a:xfrm>
            <a:off x="5168714" y="2214593"/>
            <a:ext cx="1329900" cy="13299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0"/>
          <p:cNvSpPr/>
          <p:nvPr/>
        </p:nvSpPr>
        <p:spPr>
          <a:xfrm>
            <a:off x="7502389" y="2235693"/>
            <a:ext cx="1329900" cy="13299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40"/>
          <p:cNvSpPr/>
          <p:nvPr/>
        </p:nvSpPr>
        <p:spPr>
          <a:xfrm>
            <a:off x="2619014" y="2235693"/>
            <a:ext cx="1329900" cy="1329900"/>
          </a:xfrm>
          <a:prstGeom prst="ellipse">
            <a:avLst/>
          </a:prstGeom>
          <a:solidFill>
            <a:srgbClr val="0B539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40"/>
          <p:cNvSpPr txBox="1"/>
          <p:nvPr/>
        </p:nvSpPr>
        <p:spPr>
          <a:xfrm>
            <a:off x="7502400" y="2575650"/>
            <a:ext cx="1329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MODELOS</a:t>
            </a:r>
            <a:endParaRPr sz="1500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38" name="Google Shape;338;p40"/>
          <p:cNvSpPr txBox="1"/>
          <p:nvPr/>
        </p:nvSpPr>
        <p:spPr>
          <a:xfrm>
            <a:off x="5168713" y="2575650"/>
            <a:ext cx="1329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SPLIT</a:t>
            </a:r>
            <a:endParaRPr sz="1500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39" name="Google Shape;339;p40"/>
          <p:cNvSpPr txBox="1"/>
          <p:nvPr/>
        </p:nvSpPr>
        <p:spPr>
          <a:xfrm>
            <a:off x="2611425" y="2575650"/>
            <a:ext cx="13299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FFFFFF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LIMPIEZA</a:t>
            </a:r>
            <a:endParaRPr sz="1500">
              <a:solidFill>
                <a:srgbClr val="FFFFFF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40" name="Google Shape;340;p40"/>
          <p:cNvSpPr txBox="1"/>
          <p:nvPr/>
        </p:nvSpPr>
        <p:spPr>
          <a:xfrm>
            <a:off x="597750" y="4018350"/>
            <a:ext cx="79485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Objetivo: predecir la probabilidad de abandono (churn) de clientes bancarios</a:t>
            </a:r>
            <a:endParaRPr sz="18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1"/>
          <p:cNvSpPr txBox="1"/>
          <p:nvPr>
            <p:ph type="title"/>
          </p:nvPr>
        </p:nvSpPr>
        <p:spPr>
          <a:xfrm>
            <a:off x="1391175" y="107650"/>
            <a:ext cx="7038900" cy="14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>
                <a:latin typeface="Oswald"/>
                <a:ea typeface="Oswald"/>
                <a:cs typeface="Oswald"/>
                <a:sym typeface="Oswald"/>
              </a:rPr>
              <a:t>División del Dataset</a:t>
            </a:r>
            <a:endParaRPr sz="4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s" sz="4000">
                <a:latin typeface="Oswald"/>
                <a:ea typeface="Oswald"/>
                <a:cs typeface="Oswald"/>
                <a:sym typeface="Oswald"/>
              </a:rPr>
              <a:t>Estratificada por Attrition_Flag</a:t>
            </a:r>
            <a:endParaRPr sz="40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46" name="Google Shape;346;p41"/>
          <p:cNvSpPr txBox="1"/>
          <p:nvPr/>
        </p:nvSpPr>
        <p:spPr>
          <a:xfrm>
            <a:off x="482700" y="1555150"/>
            <a:ext cx="8178600" cy="3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Conjuntos de datos: </a:t>
            </a:r>
            <a:endParaRPr sz="17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80% entrenamiento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10% validación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10% test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Muestreo estratificado:</a:t>
            </a:r>
            <a:endParaRPr sz="16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Mantenemos proporciones de churn y no churn.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Churn 16% en todos.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Evita sesgos en la evaluación y mejora la representatividad.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2"/>
          <p:cNvSpPr txBox="1"/>
          <p:nvPr>
            <p:ph type="title"/>
          </p:nvPr>
        </p:nvSpPr>
        <p:spPr>
          <a:xfrm>
            <a:off x="1391175" y="107650"/>
            <a:ext cx="7038900" cy="14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600">
                <a:latin typeface="Oswald"/>
                <a:ea typeface="Oswald"/>
                <a:cs typeface="Oswald"/>
                <a:sym typeface="Oswald"/>
              </a:rPr>
              <a:t>División del Dataset</a:t>
            </a:r>
            <a:endParaRPr sz="46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4400">
                <a:latin typeface="Oswald"/>
                <a:ea typeface="Oswald"/>
                <a:cs typeface="Oswald"/>
                <a:sym typeface="Oswald"/>
              </a:rPr>
              <a:t> </a:t>
            </a:r>
            <a:r>
              <a:rPr lang="es" sz="4000">
                <a:latin typeface="Oswald"/>
                <a:ea typeface="Oswald"/>
                <a:cs typeface="Oswald"/>
                <a:sym typeface="Oswald"/>
              </a:rPr>
              <a:t>Estratificada por Attrition_Flag</a:t>
            </a:r>
            <a:endParaRPr sz="40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52" name="Google Shape;352;p42"/>
          <p:cNvSpPr txBox="1"/>
          <p:nvPr/>
        </p:nvSpPr>
        <p:spPr>
          <a:xfrm>
            <a:off x="482700" y="1555150"/>
            <a:ext cx="8178600" cy="34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Conjuntos de datos: </a:t>
            </a:r>
            <a:endParaRPr sz="17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80% entrenamiento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10% validación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10% test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s" sz="16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Muestreo estratificado:</a:t>
            </a:r>
            <a:endParaRPr sz="16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Mantenemos proporciones de churn y no churn.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Churn 16% en todos.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Source Code Pro"/>
              <a:buChar char="●"/>
            </a:pPr>
            <a:r>
              <a:rPr lang="es" sz="15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Evita sesgos en la evaluación y mejora la representatividad.</a:t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>
              <a:solidFill>
                <a:schemeClr val="lt1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43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s" sz="3000"/>
              <a:t>GRACIAS</a:t>
            </a:r>
            <a:endParaRPr sz="3000"/>
          </a:p>
        </p:txBody>
      </p:sp>
      <p:sp>
        <p:nvSpPr>
          <p:cNvPr id="358" name="Google Shape;358;p43"/>
          <p:cNvSpPr txBox="1"/>
          <p:nvPr>
            <p:ph idx="1" type="body"/>
          </p:nvPr>
        </p:nvSpPr>
        <p:spPr>
          <a:xfrm>
            <a:off x="1328675" y="1637675"/>
            <a:ext cx="7038900" cy="29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</a:pPr>
            <a:r>
              <a:rPr lang="es" sz="1800"/>
              <a:t>Llámanos 91-1234-567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1800"/>
              <a:t>Envíanos un email Finanzasglobales@corp.es 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300"/>
              <a:buNone/>
            </a:pPr>
            <a:r>
              <a:rPr lang="es" sz="1800"/>
              <a:t>Visita nuestras redes @finanzasglobales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300"/>
              <a:buNone/>
            </a:pPr>
            <a:r>
              <a:rPr lang="es" sz="1800"/>
              <a:t> Echa un vistazo a la web www.finanzasglobales.es</a:t>
            </a:r>
            <a:endParaRPr sz="1800"/>
          </a:p>
        </p:txBody>
      </p:sp>
      <p:pic>
        <p:nvPicPr>
          <p:cNvPr id="359" name="Google Shape;35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90550" y="3750349"/>
            <a:ext cx="2403775" cy="840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